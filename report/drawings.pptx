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56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89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249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586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00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046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445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7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845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710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8163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4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28EBE-C46F-42E2-B43A-162BD3019290}" type="datetimeFigureOut">
              <a:rPr lang="fr-FR" smtClean="0"/>
              <a:t>14/06/2026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DB2A2-63F3-49A4-85E9-CFC65F8539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4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3894083" y="173420"/>
            <a:ext cx="2469772" cy="7565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err="1" smtClean="0"/>
              <a:t>Environmental</a:t>
            </a:r>
            <a:r>
              <a:rPr lang="fr-FR" sz="2000" dirty="0" smtClean="0"/>
              <a:t> </a:t>
            </a:r>
            <a:r>
              <a:rPr lang="fr-FR" sz="2000" dirty="0" err="1" smtClean="0"/>
              <a:t>Factors</a:t>
            </a:r>
            <a:endParaRPr lang="fr-FR" sz="20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3894083" y="1823544"/>
            <a:ext cx="2469772" cy="7565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err="1" smtClean="0"/>
              <a:t>Tomato</a:t>
            </a:r>
            <a:r>
              <a:rPr lang="fr-FR" sz="2000" dirty="0" smtClean="0"/>
              <a:t> </a:t>
            </a:r>
            <a:r>
              <a:rPr lang="fr-FR" sz="2000" dirty="0" err="1" smtClean="0"/>
              <a:t>Growth</a:t>
            </a:r>
            <a:endParaRPr lang="fr-FR" sz="20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3894083" y="3473668"/>
            <a:ext cx="2469772" cy="7565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err="1" smtClean="0"/>
              <a:t>Tomato</a:t>
            </a:r>
            <a:r>
              <a:rPr lang="fr-FR" sz="2000" dirty="0" smtClean="0"/>
              <a:t> </a:t>
            </a:r>
            <a:r>
              <a:rPr lang="fr-FR" sz="2000" dirty="0" err="1" smtClean="0"/>
              <a:t>Yield</a:t>
            </a:r>
            <a:endParaRPr lang="fr-FR" sz="20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3894083" y="5123792"/>
            <a:ext cx="2469772" cy="75658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dirty="0" err="1" smtClean="0"/>
              <a:t>Farmer</a:t>
            </a:r>
            <a:r>
              <a:rPr lang="fr-FR" sz="2000" dirty="0" smtClean="0"/>
              <a:t> </a:t>
            </a:r>
            <a:r>
              <a:rPr lang="fr-FR" sz="2000" dirty="0" err="1" smtClean="0"/>
              <a:t>Decision</a:t>
            </a:r>
            <a:r>
              <a:rPr lang="fr-FR" sz="2000" dirty="0" smtClean="0"/>
              <a:t> </a:t>
            </a:r>
            <a:r>
              <a:rPr lang="fr-FR" sz="2000" dirty="0" err="1" smtClean="0"/>
              <a:t>Making</a:t>
            </a:r>
            <a:endParaRPr lang="fr-FR" sz="2000" dirty="0"/>
          </a:p>
        </p:txBody>
      </p:sp>
      <p:cxnSp>
        <p:nvCxnSpPr>
          <p:cNvPr id="8" name="Connecteur droit avec flèche 7"/>
          <p:cNvCxnSpPr>
            <a:stCxn id="2" idx="2"/>
            <a:endCxn id="4" idx="0"/>
          </p:cNvCxnSpPr>
          <p:nvPr/>
        </p:nvCxnSpPr>
        <p:spPr>
          <a:xfrm>
            <a:off x="5128969" y="930007"/>
            <a:ext cx="0" cy="8935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" name="Connecteur droit avec flèche 10"/>
          <p:cNvCxnSpPr>
            <a:stCxn id="4" idx="2"/>
            <a:endCxn id="5" idx="0"/>
          </p:cNvCxnSpPr>
          <p:nvPr/>
        </p:nvCxnSpPr>
        <p:spPr>
          <a:xfrm>
            <a:off x="5128969" y="2580131"/>
            <a:ext cx="0" cy="8935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" name="Connecteur droit avec flèche 13"/>
          <p:cNvCxnSpPr>
            <a:stCxn id="5" idx="2"/>
            <a:endCxn id="6" idx="0"/>
          </p:cNvCxnSpPr>
          <p:nvPr/>
        </p:nvCxnSpPr>
        <p:spPr>
          <a:xfrm>
            <a:off x="5128969" y="4230255"/>
            <a:ext cx="0" cy="8935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27233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e 107"/>
          <p:cNvGrpSpPr/>
          <p:nvPr/>
        </p:nvGrpSpPr>
        <p:grpSpPr>
          <a:xfrm>
            <a:off x="281869" y="321839"/>
            <a:ext cx="11466785" cy="5104664"/>
            <a:chOff x="281869" y="321839"/>
            <a:chExt cx="11466785" cy="5104664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4727743" y="321839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Dataset</a:t>
              </a:r>
              <a:endParaRPr lang="fr-FR" dirty="0"/>
            </a:p>
          </p:txBody>
        </p:sp>
        <p:sp>
          <p:nvSpPr>
            <p:cNvPr id="3" name="Rectangle à coins arrondis 2"/>
            <p:cNvSpPr/>
            <p:nvPr/>
          </p:nvSpPr>
          <p:spPr>
            <a:xfrm>
              <a:off x="1478138" y="2742085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Temperature</a:t>
              </a:r>
              <a:endParaRPr lang="fr-FR" dirty="0"/>
            </a:p>
          </p:txBody>
        </p:sp>
        <p:sp>
          <p:nvSpPr>
            <p:cNvPr id="4" name="Rectangle à coins arrondis 3"/>
            <p:cNvSpPr/>
            <p:nvPr/>
          </p:nvSpPr>
          <p:spPr>
            <a:xfrm>
              <a:off x="9173617" y="1636111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Temporal</a:t>
              </a:r>
              <a:endParaRPr lang="fr-FR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6209701" y="1636111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Fertilization</a:t>
              </a:r>
              <a:endParaRPr lang="fr-FR" dirty="0"/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3245785" y="1559433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Soil</a:t>
              </a:r>
              <a:endParaRPr lang="fr-FR" dirty="0"/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281869" y="1542236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Climate</a:t>
              </a:r>
              <a:endParaRPr lang="fr-FR" dirty="0"/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1478138" y="4685523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Wind Speed</a:t>
              </a:r>
              <a:endParaRPr lang="fr-FR" dirty="0"/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1478138" y="3713804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Humidity</a:t>
              </a:r>
              <a:endParaRPr lang="fr-FR" dirty="0"/>
            </a:p>
          </p:txBody>
        </p:sp>
        <p:sp>
          <p:nvSpPr>
            <p:cNvPr id="10" name="Rectangle à coins arrondis 9"/>
            <p:cNvSpPr/>
            <p:nvPr/>
          </p:nvSpPr>
          <p:spPr>
            <a:xfrm>
              <a:off x="4303430" y="2742085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Soil</a:t>
              </a:r>
              <a:r>
                <a:rPr lang="fr-FR" dirty="0" smtClean="0"/>
                <a:t> Type</a:t>
              </a:r>
              <a:endParaRPr lang="fr-FR" dirty="0"/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4303430" y="3707511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Soil</a:t>
              </a:r>
              <a:r>
                <a:rPr lang="fr-FR" dirty="0" smtClean="0"/>
                <a:t> PH</a:t>
              </a:r>
              <a:endParaRPr lang="fr-FR" dirty="0"/>
            </a:p>
          </p:txBody>
        </p:sp>
        <p:sp>
          <p:nvSpPr>
            <p:cNvPr id="12" name="Rectangle à coins arrondis 11"/>
            <p:cNvSpPr/>
            <p:nvPr/>
          </p:nvSpPr>
          <p:spPr>
            <a:xfrm>
              <a:off x="4303430" y="4685523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Soil</a:t>
              </a:r>
              <a:r>
                <a:rPr lang="fr-FR" dirty="0" smtClean="0"/>
                <a:t> </a:t>
              </a:r>
              <a:r>
                <a:rPr lang="fr-FR" dirty="0" err="1" smtClean="0"/>
                <a:t>Quality</a:t>
              </a:r>
              <a:endParaRPr lang="fr-FR" dirty="0"/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7486193" y="2827619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Nitrogen</a:t>
              </a:r>
              <a:r>
                <a:rPr lang="fr-FR" dirty="0" smtClean="0"/>
                <a:t> (N)</a:t>
              </a:r>
              <a:endParaRPr lang="fr-FR" dirty="0"/>
            </a:p>
          </p:txBody>
        </p:sp>
        <p:sp>
          <p:nvSpPr>
            <p:cNvPr id="14" name="Rectangle à coins arrondis 13"/>
            <p:cNvSpPr/>
            <p:nvPr/>
          </p:nvSpPr>
          <p:spPr>
            <a:xfrm>
              <a:off x="7486193" y="3756571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Phosphorus</a:t>
              </a:r>
              <a:r>
                <a:rPr lang="fr-FR" dirty="0"/>
                <a:t> </a:t>
              </a:r>
              <a:r>
                <a:rPr lang="fr-FR" dirty="0" smtClean="0"/>
                <a:t>(P)</a:t>
              </a:r>
              <a:endParaRPr lang="fr-FR" dirty="0"/>
            </a:p>
          </p:txBody>
        </p:sp>
        <p:sp>
          <p:nvSpPr>
            <p:cNvPr id="15" name="Rectangle à coins arrondis 14"/>
            <p:cNvSpPr/>
            <p:nvPr/>
          </p:nvSpPr>
          <p:spPr>
            <a:xfrm>
              <a:off x="7486193" y="4685523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Potassium(K)</a:t>
              </a:r>
              <a:endParaRPr lang="fr-FR" dirty="0"/>
            </a:p>
          </p:txBody>
        </p:sp>
        <p:sp>
          <p:nvSpPr>
            <p:cNvPr id="17" name="Rectangle à coins arrondis 16"/>
            <p:cNvSpPr/>
            <p:nvPr/>
          </p:nvSpPr>
          <p:spPr>
            <a:xfrm>
              <a:off x="10266696" y="2743377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Year</a:t>
              </a:r>
              <a:endParaRPr lang="fr-FR" dirty="0"/>
            </a:p>
          </p:txBody>
        </p:sp>
        <p:sp>
          <p:nvSpPr>
            <p:cNvPr id="18" name="Rectangle à coins arrondis 17"/>
            <p:cNvSpPr/>
            <p:nvPr/>
          </p:nvSpPr>
          <p:spPr>
            <a:xfrm>
              <a:off x="10266696" y="3756571"/>
              <a:ext cx="1481958" cy="740980"/>
            </a:xfrm>
            <a:prstGeom prst="roundRect">
              <a:avLst/>
            </a:prstGeom>
            <a:ln w="38100">
              <a:noFill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/>
                <a:t>Month</a:t>
              </a:r>
              <a:endParaRPr lang="fr-FR" dirty="0"/>
            </a:p>
          </p:txBody>
        </p:sp>
        <p:cxnSp>
          <p:nvCxnSpPr>
            <p:cNvPr id="21" name="Connecteur droit 20"/>
            <p:cNvCxnSpPr>
              <a:stCxn id="2" idx="2"/>
            </p:cNvCxnSpPr>
            <p:nvPr/>
          </p:nvCxnSpPr>
          <p:spPr>
            <a:xfrm>
              <a:off x="5468722" y="1062819"/>
              <a:ext cx="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24" name="Connecteur droit 23"/>
            <p:cNvCxnSpPr>
              <a:endCxn id="2" idx="2"/>
            </p:cNvCxnSpPr>
            <p:nvPr/>
          </p:nvCxnSpPr>
          <p:spPr>
            <a:xfrm flipV="1">
              <a:off x="5468722" y="1062819"/>
              <a:ext cx="0" cy="22103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 flipH="1">
              <a:off x="1022848" y="1283854"/>
              <a:ext cx="8891749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31" name="Connecteur droit avec flèche 30"/>
            <p:cNvCxnSpPr>
              <a:endCxn id="7" idx="0"/>
            </p:cNvCxnSpPr>
            <p:nvPr/>
          </p:nvCxnSpPr>
          <p:spPr>
            <a:xfrm>
              <a:off x="1022848" y="1283854"/>
              <a:ext cx="0" cy="2583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35" name="Connecteur droit avec flèche 34"/>
            <p:cNvCxnSpPr>
              <a:endCxn id="4" idx="0"/>
            </p:cNvCxnSpPr>
            <p:nvPr/>
          </p:nvCxnSpPr>
          <p:spPr>
            <a:xfrm>
              <a:off x="9914596" y="1283854"/>
              <a:ext cx="0" cy="3522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40" name="Connecteur droit avec flèche 39"/>
            <p:cNvCxnSpPr>
              <a:endCxn id="6" idx="0"/>
            </p:cNvCxnSpPr>
            <p:nvPr/>
          </p:nvCxnSpPr>
          <p:spPr>
            <a:xfrm>
              <a:off x="3986764" y="1283854"/>
              <a:ext cx="0" cy="2755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44" name="Connecteur droit avec flèche 43"/>
            <p:cNvCxnSpPr>
              <a:endCxn id="5" idx="0"/>
            </p:cNvCxnSpPr>
            <p:nvPr/>
          </p:nvCxnSpPr>
          <p:spPr>
            <a:xfrm>
              <a:off x="6950680" y="1283854"/>
              <a:ext cx="0" cy="35225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49" name="Connecteur droit 48"/>
            <p:cNvCxnSpPr>
              <a:stCxn id="7" idx="2"/>
            </p:cNvCxnSpPr>
            <p:nvPr/>
          </p:nvCxnSpPr>
          <p:spPr>
            <a:xfrm>
              <a:off x="1022848" y="2283216"/>
              <a:ext cx="0" cy="277279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53" name="Connecteur droit avec flèche 52"/>
            <p:cNvCxnSpPr>
              <a:endCxn id="8" idx="1"/>
            </p:cNvCxnSpPr>
            <p:nvPr/>
          </p:nvCxnSpPr>
          <p:spPr>
            <a:xfrm>
              <a:off x="1022848" y="5056013"/>
              <a:ext cx="4552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56" name="Connecteur droit avec flèche 55"/>
            <p:cNvCxnSpPr>
              <a:endCxn id="9" idx="1"/>
            </p:cNvCxnSpPr>
            <p:nvPr/>
          </p:nvCxnSpPr>
          <p:spPr>
            <a:xfrm>
              <a:off x="1022848" y="4084294"/>
              <a:ext cx="4552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60" name="Connecteur droit avec flèche 59"/>
            <p:cNvCxnSpPr>
              <a:endCxn id="3" idx="1"/>
            </p:cNvCxnSpPr>
            <p:nvPr/>
          </p:nvCxnSpPr>
          <p:spPr>
            <a:xfrm>
              <a:off x="1022848" y="3112575"/>
              <a:ext cx="45529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64" name="Connecteur droit 63"/>
            <p:cNvCxnSpPr>
              <a:stCxn id="6" idx="2"/>
            </p:cNvCxnSpPr>
            <p:nvPr/>
          </p:nvCxnSpPr>
          <p:spPr>
            <a:xfrm>
              <a:off x="3986764" y="2300413"/>
              <a:ext cx="0" cy="27556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67" name="Connecteur droit avec flèche 66"/>
            <p:cNvCxnSpPr>
              <a:endCxn id="12" idx="1"/>
            </p:cNvCxnSpPr>
            <p:nvPr/>
          </p:nvCxnSpPr>
          <p:spPr>
            <a:xfrm>
              <a:off x="3986764" y="5056013"/>
              <a:ext cx="31666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70" name="Connecteur droit avec flèche 69"/>
            <p:cNvCxnSpPr>
              <a:endCxn id="11" idx="1"/>
            </p:cNvCxnSpPr>
            <p:nvPr/>
          </p:nvCxnSpPr>
          <p:spPr>
            <a:xfrm>
              <a:off x="3986764" y="4078001"/>
              <a:ext cx="31666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73" name="Connecteur droit avec flèche 72"/>
            <p:cNvCxnSpPr>
              <a:endCxn id="10" idx="1"/>
            </p:cNvCxnSpPr>
            <p:nvPr/>
          </p:nvCxnSpPr>
          <p:spPr>
            <a:xfrm>
              <a:off x="3986764" y="3112575"/>
              <a:ext cx="31666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77" name="Connecteur droit 76"/>
            <p:cNvCxnSpPr>
              <a:stCxn id="5" idx="2"/>
            </p:cNvCxnSpPr>
            <p:nvPr/>
          </p:nvCxnSpPr>
          <p:spPr>
            <a:xfrm>
              <a:off x="6950680" y="2377091"/>
              <a:ext cx="0" cy="267892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83" name="Connecteur droit avec flèche 82"/>
            <p:cNvCxnSpPr>
              <a:endCxn id="15" idx="1"/>
            </p:cNvCxnSpPr>
            <p:nvPr/>
          </p:nvCxnSpPr>
          <p:spPr>
            <a:xfrm>
              <a:off x="6950680" y="5056013"/>
              <a:ext cx="53551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86" name="Connecteur droit avec flèche 85"/>
            <p:cNvCxnSpPr>
              <a:endCxn id="14" idx="1"/>
            </p:cNvCxnSpPr>
            <p:nvPr/>
          </p:nvCxnSpPr>
          <p:spPr>
            <a:xfrm>
              <a:off x="6950680" y="4114161"/>
              <a:ext cx="535513" cy="129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91" name="Connecteur droit avec flèche 90"/>
            <p:cNvCxnSpPr>
              <a:endCxn id="13" idx="1"/>
            </p:cNvCxnSpPr>
            <p:nvPr/>
          </p:nvCxnSpPr>
          <p:spPr>
            <a:xfrm>
              <a:off x="6950680" y="3185209"/>
              <a:ext cx="535513" cy="129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96" name="Connecteur droit 95"/>
            <p:cNvCxnSpPr>
              <a:stCxn id="4" idx="2"/>
            </p:cNvCxnSpPr>
            <p:nvPr/>
          </p:nvCxnSpPr>
          <p:spPr>
            <a:xfrm flipH="1">
              <a:off x="9914595" y="2377091"/>
              <a:ext cx="1" cy="174997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99" name="Connecteur droit avec flèche 98"/>
            <p:cNvCxnSpPr>
              <a:endCxn id="18" idx="1"/>
            </p:cNvCxnSpPr>
            <p:nvPr/>
          </p:nvCxnSpPr>
          <p:spPr>
            <a:xfrm>
              <a:off x="9914595" y="4127061"/>
              <a:ext cx="35210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  <p:cxnSp>
          <p:nvCxnSpPr>
            <p:cNvPr id="104" name="Connecteur droit avec flèche 103"/>
            <p:cNvCxnSpPr>
              <a:endCxn id="17" idx="1"/>
            </p:cNvCxnSpPr>
            <p:nvPr/>
          </p:nvCxnSpPr>
          <p:spPr>
            <a:xfrm>
              <a:off x="9914595" y="3112575"/>
              <a:ext cx="352101" cy="129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2179075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060337" y="0"/>
            <a:ext cx="2358935" cy="60960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Raw</a:t>
            </a:r>
            <a:r>
              <a:rPr lang="fr-FR" sz="1400" dirty="0" smtClean="0"/>
              <a:t> Agricultural </a:t>
            </a:r>
            <a:r>
              <a:rPr lang="fr-FR" sz="1400" dirty="0" err="1" smtClean="0"/>
              <a:t>Dataset</a:t>
            </a:r>
            <a:endParaRPr lang="fr-FR" sz="1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060337" y="10165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Crop</a:t>
            </a:r>
            <a:r>
              <a:rPr lang="fr-FR" sz="1400" dirty="0" smtClean="0"/>
              <a:t> </a:t>
            </a:r>
            <a:r>
              <a:rPr lang="fr-FR" sz="1400" dirty="0" err="1" smtClean="0"/>
              <a:t>Selection</a:t>
            </a:r>
            <a:r>
              <a:rPr lang="fr-FR" sz="1400" dirty="0" smtClean="0"/>
              <a:t> (</a:t>
            </a:r>
            <a:r>
              <a:rPr lang="fr-FR" sz="1400" dirty="0" err="1" smtClean="0"/>
              <a:t>Tomato</a:t>
            </a:r>
            <a:r>
              <a:rPr lang="fr-FR" sz="1400" dirty="0" smtClean="0"/>
              <a:t> </a:t>
            </a:r>
            <a:r>
              <a:rPr lang="fr-FR" sz="1400" dirty="0" err="1" smtClean="0"/>
              <a:t>Only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4060337" y="20330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Environmental</a:t>
            </a:r>
            <a:r>
              <a:rPr lang="fr-FR" sz="1400" dirty="0" smtClean="0"/>
              <a:t> </a:t>
            </a:r>
            <a:r>
              <a:rPr lang="fr-FR" sz="1400" dirty="0" err="1" smtClean="0"/>
              <a:t>Filtering</a:t>
            </a:r>
            <a:endParaRPr lang="fr-FR" sz="14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060337" y="3049791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Missing</a:t>
            </a:r>
            <a:r>
              <a:rPr lang="fr-FR" sz="1400" dirty="0" smtClean="0"/>
              <a:t> Value </a:t>
            </a:r>
            <a:r>
              <a:rPr lang="fr-FR" sz="1400" dirty="0" err="1" smtClean="0"/>
              <a:t>Analysis</a:t>
            </a:r>
            <a:endParaRPr lang="fr-FR" sz="1400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4060337" y="4066582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Outlier</a:t>
            </a:r>
            <a:r>
              <a:rPr lang="fr-FR" sz="1400" dirty="0" smtClean="0"/>
              <a:t> Inspection</a:t>
            </a:r>
            <a:endParaRPr lang="fr-FR" sz="1400" dirty="0"/>
          </a:p>
        </p:txBody>
      </p:sp>
      <p:sp>
        <p:nvSpPr>
          <p:cNvPr id="10" name="Rectangle à coins arrondis 9"/>
          <p:cNvSpPr/>
          <p:nvPr/>
        </p:nvSpPr>
        <p:spPr>
          <a:xfrm>
            <a:off x="4060337" y="5083373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Clean </a:t>
            </a:r>
            <a:r>
              <a:rPr lang="fr-FR" sz="1400" dirty="0" err="1" smtClean="0"/>
              <a:t>Dataset</a:t>
            </a:r>
            <a:endParaRPr lang="fr-FR" sz="1400" dirty="0"/>
          </a:p>
        </p:txBody>
      </p:sp>
      <p:sp>
        <p:nvSpPr>
          <p:cNvPr id="11" name="Rectangle à coins arrondis 10"/>
          <p:cNvSpPr/>
          <p:nvPr/>
        </p:nvSpPr>
        <p:spPr>
          <a:xfrm>
            <a:off x="4060337" y="6100164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Exploratory</a:t>
            </a:r>
            <a:r>
              <a:rPr lang="fr-FR" sz="1400" dirty="0" smtClean="0"/>
              <a:t> </a:t>
            </a:r>
            <a:r>
              <a:rPr lang="fr-FR" sz="1400" dirty="0" err="1" smtClean="0"/>
              <a:t>Analysis</a:t>
            </a:r>
            <a:r>
              <a:rPr lang="fr-FR" sz="1400" dirty="0" smtClean="0"/>
              <a:t> and </a:t>
            </a:r>
            <a:r>
              <a:rPr lang="fr-FR" sz="1400" dirty="0" err="1" smtClean="0"/>
              <a:t>Modeling</a:t>
            </a:r>
            <a:endParaRPr lang="fr-FR" sz="1400" dirty="0"/>
          </a:p>
        </p:txBody>
      </p:sp>
      <p:cxnSp>
        <p:nvCxnSpPr>
          <p:cNvPr id="13" name="Connecteur droit avec flèche 12"/>
          <p:cNvCxnSpPr>
            <a:stCxn id="2" idx="2"/>
            <a:endCxn id="3" idx="0"/>
          </p:cNvCxnSpPr>
          <p:nvPr/>
        </p:nvCxnSpPr>
        <p:spPr>
          <a:xfrm>
            <a:off x="5239805" y="6096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>
            <a:stCxn id="3" idx="2"/>
            <a:endCxn id="4" idx="0"/>
          </p:cNvCxnSpPr>
          <p:nvPr/>
        </p:nvCxnSpPr>
        <p:spPr>
          <a:xfrm>
            <a:off x="5239805" y="16261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>
            <a:stCxn id="4" idx="2"/>
            <a:endCxn id="5" idx="0"/>
          </p:cNvCxnSpPr>
          <p:nvPr/>
        </p:nvCxnSpPr>
        <p:spPr>
          <a:xfrm>
            <a:off x="5239805" y="2642600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stCxn id="5" idx="2"/>
            <a:endCxn id="9" idx="0"/>
          </p:cNvCxnSpPr>
          <p:nvPr/>
        </p:nvCxnSpPr>
        <p:spPr>
          <a:xfrm>
            <a:off x="5239805" y="3659391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9" idx="2"/>
            <a:endCxn id="10" idx="0"/>
          </p:cNvCxnSpPr>
          <p:nvPr/>
        </p:nvCxnSpPr>
        <p:spPr>
          <a:xfrm>
            <a:off x="5239805" y="4676182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10" idx="2"/>
            <a:endCxn id="11" idx="0"/>
          </p:cNvCxnSpPr>
          <p:nvPr/>
        </p:nvCxnSpPr>
        <p:spPr>
          <a:xfrm>
            <a:off x="5239805" y="5692973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991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e 46"/>
          <p:cNvGrpSpPr/>
          <p:nvPr/>
        </p:nvGrpSpPr>
        <p:grpSpPr>
          <a:xfrm>
            <a:off x="4047442" y="216307"/>
            <a:ext cx="3794232" cy="6258384"/>
            <a:chOff x="4047442" y="216307"/>
            <a:chExt cx="3794232" cy="6258384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4047442" y="216307"/>
              <a:ext cx="1524781" cy="661654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Original </a:t>
              </a:r>
              <a:r>
                <a:rPr lang="fr-FR" sz="1200" dirty="0" err="1" smtClean="0"/>
                <a:t>Features</a:t>
              </a:r>
              <a:endParaRPr lang="fr-FR" sz="1200" dirty="0"/>
            </a:p>
          </p:txBody>
        </p:sp>
        <p:sp>
          <p:nvSpPr>
            <p:cNvPr id="3" name="Rectangle à coins arrondis 2"/>
            <p:cNvSpPr/>
            <p:nvPr/>
          </p:nvSpPr>
          <p:spPr>
            <a:xfrm>
              <a:off x="6381390" y="2204525"/>
              <a:ext cx="1460284" cy="589321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 smtClean="0"/>
                <a:t>Year</a:t>
              </a:r>
              <a:r>
                <a:rPr lang="fr-FR" sz="1200" dirty="0" smtClean="0"/>
                <a:t> (</a:t>
              </a:r>
              <a:r>
                <a:rPr lang="fr-FR" sz="1200" dirty="0" err="1" smtClean="0"/>
                <a:t>Removed</a:t>
              </a:r>
              <a:r>
                <a:rPr lang="fr-FR" sz="1200" dirty="0" smtClean="0"/>
                <a:t>)</a:t>
              </a:r>
              <a:endParaRPr lang="fr-FR" sz="1200" dirty="0"/>
            </a:p>
          </p:txBody>
        </p:sp>
        <p:sp>
          <p:nvSpPr>
            <p:cNvPr id="4" name="Rectangle à coins arrondis 3"/>
            <p:cNvSpPr/>
            <p:nvPr/>
          </p:nvSpPr>
          <p:spPr>
            <a:xfrm>
              <a:off x="4058990" y="2204525"/>
              <a:ext cx="1524781" cy="589321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Temporal </a:t>
              </a:r>
              <a:r>
                <a:rPr lang="fr-FR" sz="1200" dirty="0" err="1" smtClean="0"/>
                <a:t>Feaure</a:t>
              </a:r>
              <a:r>
                <a:rPr lang="fr-FR" sz="1200" dirty="0" smtClean="0"/>
                <a:t> </a:t>
              </a:r>
              <a:r>
                <a:rPr lang="fr-FR" sz="1200" dirty="0" err="1" smtClean="0"/>
                <a:t>Analysis</a:t>
              </a:r>
              <a:endParaRPr lang="fr-FR" sz="1200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4047443" y="1208788"/>
              <a:ext cx="1524781" cy="661654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 smtClean="0"/>
                <a:t>Feature</a:t>
              </a:r>
              <a:r>
                <a:rPr lang="fr-FR" sz="1200" dirty="0" smtClean="0"/>
                <a:t> Evaluation</a:t>
              </a:r>
              <a:endParaRPr lang="fr-FR" sz="1200" dirty="0"/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4091709" y="3658933"/>
              <a:ext cx="1459345" cy="756050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One-Hot </a:t>
              </a:r>
              <a:r>
                <a:rPr lang="fr-FR" sz="1200" dirty="0" err="1" smtClean="0"/>
                <a:t>Encoding</a:t>
              </a:r>
              <a:r>
                <a:rPr lang="fr-FR" sz="1200" dirty="0" smtClean="0"/>
                <a:t> (</a:t>
              </a:r>
              <a:r>
                <a:rPr lang="fr-FR" sz="1200" dirty="0" err="1" smtClean="0"/>
                <a:t>Soil</a:t>
              </a:r>
              <a:r>
                <a:rPr lang="fr-FR" sz="1200" dirty="0" smtClean="0"/>
                <a:t> Type)</a:t>
              </a:r>
              <a:endParaRPr lang="fr-FR" sz="1200" dirty="0"/>
            </a:p>
          </p:txBody>
        </p:sp>
        <p:sp>
          <p:nvSpPr>
            <p:cNvPr id="12" name="Rectangle à coins arrondis 11"/>
            <p:cNvSpPr/>
            <p:nvPr/>
          </p:nvSpPr>
          <p:spPr>
            <a:xfrm>
              <a:off x="4133272" y="4763421"/>
              <a:ext cx="1376218" cy="620088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Final </a:t>
              </a:r>
              <a:r>
                <a:rPr lang="fr-FR" sz="1200" dirty="0" err="1" smtClean="0"/>
                <a:t>Feaure</a:t>
              </a:r>
              <a:r>
                <a:rPr lang="fr-FR" sz="1200" dirty="0" smtClean="0"/>
                <a:t> Set</a:t>
              </a:r>
              <a:endParaRPr lang="fr-FR" sz="1200" dirty="0"/>
            </a:p>
          </p:txBody>
        </p:sp>
        <p:sp>
          <p:nvSpPr>
            <p:cNvPr id="13" name="Rectangle à coins arrondis 12"/>
            <p:cNvSpPr/>
            <p:nvPr/>
          </p:nvSpPr>
          <p:spPr>
            <a:xfrm>
              <a:off x="4133272" y="5805838"/>
              <a:ext cx="1376218" cy="668853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Machine Learning </a:t>
              </a:r>
              <a:r>
                <a:rPr lang="fr-FR" sz="1200" dirty="0" err="1" smtClean="0"/>
                <a:t>Models</a:t>
              </a:r>
              <a:endParaRPr lang="fr-FR" sz="1200" dirty="0"/>
            </a:p>
          </p:txBody>
        </p:sp>
        <p:sp>
          <p:nvSpPr>
            <p:cNvPr id="14" name="Rectangle à coins arrondis 13"/>
            <p:cNvSpPr/>
            <p:nvPr/>
          </p:nvSpPr>
          <p:spPr>
            <a:xfrm>
              <a:off x="6381390" y="3096847"/>
              <a:ext cx="1460284" cy="497431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 smtClean="0"/>
                <a:t>Month</a:t>
              </a:r>
              <a:r>
                <a:rPr lang="fr-FR" sz="1200" dirty="0" smtClean="0"/>
                <a:t> (</a:t>
              </a:r>
              <a:r>
                <a:rPr lang="fr-FR" sz="1200" dirty="0" err="1" smtClean="0"/>
                <a:t>Removed</a:t>
              </a:r>
              <a:r>
                <a:rPr lang="fr-FR" sz="1200" dirty="0" smtClean="0"/>
                <a:t>)</a:t>
              </a:r>
              <a:endParaRPr lang="fr-FR" sz="1200" dirty="0"/>
            </a:p>
          </p:txBody>
        </p:sp>
        <p:cxnSp>
          <p:nvCxnSpPr>
            <p:cNvPr id="16" name="Connecteur droit avec flèche 15"/>
            <p:cNvCxnSpPr>
              <a:stCxn id="2" idx="2"/>
              <a:endCxn id="5" idx="0"/>
            </p:cNvCxnSpPr>
            <p:nvPr/>
          </p:nvCxnSpPr>
          <p:spPr>
            <a:xfrm>
              <a:off x="4809833" y="877961"/>
              <a:ext cx="1" cy="33082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Connecteur droit avec flèche 17"/>
            <p:cNvCxnSpPr>
              <a:stCxn id="5" idx="2"/>
              <a:endCxn id="4" idx="0"/>
            </p:cNvCxnSpPr>
            <p:nvPr/>
          </p:nvCxnSpPr>
          <p:spPr>
            <a:xfrm>
              <a:off x="4809834" y="1870442"/>
              <a:ext cx="11547" cy="3340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0" name="Connecteur droit avec flèche 19"/>
            <p:cNvCxnSpPr>
              <a:stCxn id="4" idx="2"/>
              <a:endCxn id="11" idx="0"/>
            </p:cNvCxnSpPr>
            <p:nvPr/>
          </p:nvCxnSpPr>
          <p:spPr>
            <a:xfrm>
              <a:off x="4821381" y="2793846"/>
              <a:ext cx="1" cy="86508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Connecteur droit avec flèche 21"/>
            <p:cNvCxnSpPr>
              <a:stCxn id="11" idx="2"/>
              <a:endCxn id="12" idx="0"/>
            </p:cNvCxnSpPr>
            <p:nvPr/>
          </p:nvCxnSpPr>
          <p:spPr>
            <a:xfrm flipH="1">
              <a:off x="4821381" y="4414983"/>
              <a:ext cx="1" cy="34843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Connecteur droit avec flèche 23"/>
            <p:cNvCxnSpPr>
              <a:stCxn id="12" idx="2"/>
              <a:endCxn id="13" idx="0"/>
            </p:cNvCxnSpPr>
            <p:nvPr/>
          </p:nvCxnSpPr>
          <p:spPr>
            <a:xfrm>
              <a:off x="4821381" y="5383509"/>
              <a:ext cx="0" cy="42232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38" name="Connecteur droit avec flèche 37"/>
            <p:cNvCxnSpPr>
              <a:stCxn id="4" idx="3"/>
              <a:endCxn id="3" idx="1"/>
            </p:cNvCxnSpPr>
            <p:nvPr/>
          </p:nvCxnSpPr>
          <p:spPr>
            <a:xfrm>
              <a:off x="5583771" y="2499186"/>
              <a:ext cx="797619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1" name="Connecteur droit avec flèche 40"/>
            <p:cNvCxnSpPr>
              <a:endCxn id="14" idx="1"/>
            </p:cNvCxnSpPr>
            <p:nvPr/>
          </p:nvCxnSpPr>
          <p:spPr>
            <a:xfrm>
              <a:off x="5982580" y="3345562"/>
              <a:ext cx="398810" cy="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45" name="Connecteur droit 44"/>
            <p:cNvCxnSpPr/>
            <p:nvPr/>
          </p:nvCxnSpPr>
          <p:spPr>
            <a:xfrm flipV="1">
              <a:off x="5982580" y="2499185"/>
              <a:ext cx="0" cy="846377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670530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819973" y="154983"/>
            <a:ext cx="1937289" cy="759417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Soil</a:t>
            </a:r>
            <a:r>
              <a:rPr lang="fr-FR" dirty="0" smtClean="0"/>
              <a:t> Type</a:t>
            </a:r>
            <a:endParaRPr lang="fr-FR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819973" y="1332855"/>
            <a:ext cx="1937289" cy="1797804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fr-FR" dirty="0" smtClean="0"/>
              <a:t>Clay</a:t>
            </a:r>
          </a:p>
          <a:p>
            <a:pPr marL="285750" indent="-285750">
              <a:buFontTx/>
              <a:buChar char="-"/>
            </a:pPr>
            <a:r>
              <a:rPr lang="fr-FR" dirty="0" smtClean="0"/>
              <a:t>Sandy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Loamy</a:t>
            </a:r>
            <a:endParaRPr lang="fr-FR" dirty="0" smtClean="0"/>
          </a:p>
          <a:p>
            <a:pPr marL="285750" indent="-285750">
              <a:buFontTx/>
              <a:buChar char="-"/>
            </a:pPr>
            <a:r>
              <a:rPr lang="fr-FR" dirty="0" smtClean="0"/>
              <a:t>Saline</a:t>
            </a:r>
          </a:p>
          <a:p>
            <a:pPr marL="285750" indent="-285750">
              <a:buFontTx/>
              <a:buChar char="-"/>
            </a:pPr>
            <a:r>
              <a:rPr lang="fr-FR" dirty="0" err="1" smtClean="0"/>
              <a:t>Peaty</a:t>
            </a:r>
            <a:endParaRPr lang="fr-FR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814543"/>
              </p:ext>
            </p:extLst>
          </p:nvPr>
        </p:nvGraphicFramePr>
        <p:xfrm>
          <a:off x="3756618" y="3777672"/>
          <a:ext cx="4064000" cy="240657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12800"/>
                <a:gridCol w="812800"/>
                <a:gridCol w="812800"/>
                <a:gridCol w="812800"/>
                <a:gridCol w="812800"/>
              </a:tblGrid>
              <a:tr h="461465">
                <a:tc>
                  <a:txBody>
                    <a:bodyPr/>
                    <a:lstStyle/>
                    <a:p>
                      <a:r>
                        <a:rPr lang="fr-FR" dirty="0" smtClean="0"/>
                        <a:t>Clay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Sandy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Loamy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Saline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 smtClean="0"/>
                        <a:t>Peaty</a:t>
                      </a:r>
                      <a:endParaRPr lang="fr-FR" dirty="0"/>
                    </a:p>
                  </a:txBody>
                  <a:tcPr/>
                </a:tc>
              </a:tr>
              <a:tr h="389022"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</a:tr>
              <a:tr h="389022"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</a:tr>
              <a:tr h="389022"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</a:tr>
              <a:tr h="389022"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</a:tr>
              <a:tr h="389022"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Connecteur droit avec flèche 6"/>
          <p:cNvCxnSpPr>
            <a:stCxn id="2" idx="2"/>
            <a:endCxn id="3" idx="0"/>
          </p:cNvCxnSpPr>
          <p:nvPr/>
        </p:nvCxnSpPr>
        <p:spPr>
          <a:xfrm>
            <a:off x="5788618" y="914400"/>
            <a:ext cx="0" cy="41845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" name="Connecteur droit avec flèche 9"/>
          <p:cNvCxnSpPr>
            <a:stCxn id="3" idx="2"/>
            <a:endCxn id="5" idx="0"/>
          </p:cNvCxnSpPr>
          <p:nvPr/>
        </p:nvCxnSpPr>
        <p:spPr>
          <a:xfrm>
            <a:off x="5788618" y="3130659"/>
            <a:ext cx="0" cy="6470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444428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0937586"/>
              </p:ext>
            </p:extLst>
          </p:nvPr>
        </p:nvGraphicFramePr>
        <p:xfrm>
          <a:off x="2032000" y="719666"/>
          <a:ext cx="8127999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8909"/>
                <a:gridCol w="738909"/>
                <a:gridCol w="738909"/>
                <a:gridCol w="738909"/>
                <a:gridCol w="738909"/>
                <a:gridCol w="738909"/>
                <a:gridCol w="738909"/>
                <a:gridCol w="738909"/>
                <a:gridCol w="738909"/>
                <a:gridCol w="738909"/>
                <a:gridCol w="738909"/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2013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2015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2016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2017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2019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2020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2021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2022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2023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4" name="Connecteur droit 3"/>
          <p:cNvCxnSpPr/>
          <p:nvPr/>
        </p:nvCxnSpPr>
        <p:spPr>
          <a:xfrm>
            <a:off x="2402237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/>
        </p:nvCxnSpPr>
        <p:spPr>
          <a:xfrm>
            <a:off x="5995261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/>
          <p:cNvCxnSpPr/>
          <p:nvPr/>
        </p:nvCxnSpPr>
        <p:spPr>
          <a:xfrm>
            <a:off x="5995261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/>
          <p:cNvCxnSpPr/>
          <p:nvPr/>
        </p:nvCxnSpPr>
        <p:spPr>
          <a:xfrm>
            <a:off x="6752095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/>
          <p:cNvCxnSpPr/>
          <p:nvPr/>
        </p:nvCxnSpPr>
        <p:spPr>
          <a:xfrm>
            <a:off x="8363918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>
          <a:xfrm>
            <a:off x="8844366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/>
        </p:nvCxnSpPr>
        <p:spPr>
          <a:xfrm>
            <a:off x="9758766" y="1193369"/>
            <a:ext cx="0" cy="2789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2402237" y="1472339"/>
            <a:ext cx="35930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/>
          <p:cNvCxnSpPr/>
          <p:nvPr/>
        </p:nvCxnSpPr>
        <p:spPr>
          <a:xfrm>
            <a:off x="6752095" y="1472339"/>
            <a:ext cx="161182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/>
          <p:cNvCxnSpPr/>
          <p:nvPr/>
        </p:nvCxnSpPr>
        <p:spPr>
          <a:xfrm>
            <a:off x="8844366" y="1472339"/>
            <a:ext cx="9144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3252022" y="1287673"/>
            <a:ext cx="1893455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Training set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7077715" y="1287673"/>
            <a:ext cx="960581" cy="36933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Val set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9001385" y="1287673"/>
            <a:ext cx="60036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fr-FR" dirty="0" err="1" smtClean="0"/>
              <a:t>Testset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0173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e 38"/>
          <p:cNvGrpSpPr/>
          <p:nvPr/>
        </p:nvGrpSpPr>
        <p:grpSpPr>
          <a:xfrm>
            <a:off x="4889713" y="0"/>
            <a:ext cx="1611824" cy="6467116"/>
            <a:chOff x="4889713" y="0"/>
            <a:chExt cx="1611824" cy="6467116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4889714" y="0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 smtClean="0"/>
                <a:t>Historical</a:t>
              </a:r>
              <a:r>
                <a:rPr lang="fr-FR" sz="1200" dirty="0" smtClean="0"/>
                <a:t> Data</a:t>
              </a:r>
              <a:endParaRPr lang="fr-FR" sz="1200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4889714" y="850793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Training Set</a:t>
              </a:r>
              <a:endParaRPr lang="fr-FR" sz="1200" dirty="0"/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4889714" y="1699971"/>
              <a:ext cx="1611823" cy="524358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Model Training</a:t>
              </a:r>
              <a:endParaRPr lang="fr-FR" sz="1200" dirty="0"/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4889713" y="2589930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Validation Set</a:t>
              </a:r>
              <a:endParaRPr lang="fr-FR" sz="1200" dirty="0"/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4889714" y="3439332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err="1" smtClean="0"/>
                <a:t>Hyperparameter</a:t>
              </a:r>
              <a:r>
                <a:rPr lang="fr-FR" sz="1200" dirty="0" smtClean="0"/>
                <a:t> </a:t>
              </a:r>
              <a:r>
                <a:rPr lang="fr-FR" sz="1200" dirty="0" err="1" smtClean="0"/>
                <a:t>Tuning</a:t>
              </a:r>
              <a:endParaRPr lang="fr-FR" sz="1200" dirty="0"/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4889714" y="4287864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Best Model</a:t>
              </a:r>
              <a:endParaRPr lang="fr-FR" sz="1200" dirty="0"/>
            </a:p>
          </p:txBody>
        </p:sp>
        <p:sp>
          <p:nvSpPr>
            <p:cNvPr id="10" name="Rectangle à coins arrondis 9"/>
            <p:cNvSpPr/>
            <p:nvPr/>
          </p:nvSpPr>
          <p:spPr>
            <a:xfrm>
              <a:off x="4889713" y="5138137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Test Set</a:t>
              </a:r>
              <a:endParaRPr lang="fr-FR" sz="1200" dirty="0"/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4889713" y="5986669"/>
              <a:ext cx="1611823" cy="480447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200" dirty="0" smtClean="0"/>
                <a:t>Final Performance</a:t>
              </a:r>
              <a:endParaRPr lang="fr-FR" sz="1200" dirty="0"/>
            </a:p>
          </p:txBody>
        </p:sp>
        <p:cxnSp>
          <p:nvCxnSpPr>
            <p:cNvPr id="13" name="Connecteur droit avec flèche 12"/>
            <p:cNvCxnSpPr>
              <a:stCxn id="2" idx="2"/>
              <a:endCxn id="5" idx="0"/>
            </p:cNvCxnSpPr>
            <p:nvPr/>
          </p:nvCxnSpPr>
          <p:spPr>
            <a:xfrm>
              <a:off x="5695626" y="480447"/>
              <a:ext cx="0" cy="3703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Connecteur droit avec flèche 14"/>
            <p:cNvCxnSpPr>
              <a:stCxn id="5" idx="2"/>
              <a:endCxn id="6" idx="0"/>
            </p:cNvCxnSpPr>
            <p:nvPr/>
          </p:nvCxnSpPr>
          <p:spPr>
            <a:xfrm>
              <a:off x="5695626" y="1331240"/>
              <a:ext cx="0" cy="36873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7" name="Connecteur droit avec flèche 16"/>
            <p:cNvCxnSpPr>
              <a:stCxn id="6" idx="2"/>
              <a:endCxn id="7" idx="0"/>
            </p:cNvCxnSpPr>
            <p:nvPr/>
          </p:nvCxnSpPr>
          <p:spPr>
            <a:xfrm flipH="1">
              <a:off x="5695625" y="2224329"/>
              <a:ext cx="1" cy="36560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9" name="Connecteur droit avec flèche 18"/>
            <p:cNvCxnSpPr>
              <a:stCxn id="7" idx="2"/>
              <a:endCxn id="8" idx="0"/>
            </p:cNvCxnSpPr>
            <p:nvPr/>
          </p:nvCxnSpPr>
          <p:spPr>
            <a:xfrm>
              <a:off x="5695625" y="3070377"/>
              <a:ext cx="1" cy="36895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Connecteur droit avec flèche 20"/>
            <p:cNvCxnSpPr>
              <a:stCxn id="8" idx="2"/>
              <a:endCxn id="9" idx="0"/>
            </p:cNvCxnSpPr>
            <p:nvPr/>
          </p:nvCxnSpPr>
          <p:spPr>
            <a:xfrm>
              <a:off x="5695626" y="3919779"/>
              <a:ext cx="0" cy="3680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Connecteur droit avec flèche 22"/>
            <p:cNvCxnSpPr>
              <a:stCxn id="9" idx="2"/>
              <a:endCxn id="10" idx="0"/>
            </p:cNvCxnSpPr>
            <p:nvPr/>
          </p:nvCxnSpPr>
          <p:spPr>
            <a:xfrm flipH="1">
              <a:off x="5695625" y="4768311"/>
              <a:ext cx="1" cy="3698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Connecteur droit avec flèche 24"/>
            <p:cNvCxnSpPr>
              <a:stCxn id="10" idx="2"/>
              <a:endCxn id="11" idx="0"/>
            </p:cNvCxnSpPr>
            <p:nvPr/>
          </p:nvCxnSpPr>
          <p:spPr>
            <a:xfrm>
              <a:off x="5695625" y="5618584"/>
              <a:ext cx="0" cy="3680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135722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5238427" y="185980"/>
            <a:ext cx="1813302" cy="79041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Models</a:t>
            </a:r>
            <a:endParaRPr lang="fr-FR" sz="1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1516251" y="2058692"/>
            <a:ext cx="1813302" cy="79041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Baseline</a:t>
            </a:r>
            <a:endParaRPr lang="fr-FR" sz="1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5238427" y="2058691"/>
            <a:ext cx="1813302" cy="79041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Linear</a:t>
            </a:r>
            <a:endParaRPr lang="fr-FR" sz="14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8960603" y="2004446"/>
            <a:ext cx="1813302" cy="790413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Non-</a:t>
            </a:r>
            <a:r>
              <a:rPr lang="fr-FR" sz="1400" dirty="0" err="1" smtClean="0"/>
              <a:t>Linear</a:t>
            </a:r>
            <a:endParaRPr lang="fr-FR" sz="14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516251" y="3424108"/>
            <a:ext cx="1813302" cy="790413"/>
          </a:xfrm>
          <a:prstGeom prst="roundRect">
            <a:avLst/>
          </a:prstGeom>
          <a:ln w="285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b="1" dirty="0" err="1" smtClean="0"/>
              <a:t>Dummy</a:t>
            </a:r>
            <a:endParaRPr lang="fr-FR" sz="1400" b="1" dirty="0"/>
          </a:p>
        </p:txBody>
      </p:sp>
      <p:graphicFrame>
        <p:nvGraphicFramePr>
          <p:cNvPr id="9" name="Tableau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12103"/>
              </p:ext>
            </p:extLst>
          </p:nvPr>
        </p:nvGraphicFramePr>
        <p:xfrm>
          <a:off x="4733244" y="3655017"/>
          <a:ext cx="2823668" cy="7996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5917"/>
                <a:gridCol w="705917"/>
                <a:gridCol w="705917"/>
                <a:gridCol w="705917"/>
              </a:tblGrid>
              <a:tr h="799681">
                <a:tc>
                  <a:txBody>
                    <a:bodyPr/>
                    <a:lstStyle/>
                    <a:p>
                      <a:r>
                        <a:rPr lang="fr-FR" sz="1400" b="1" dirty="0" err="1" smtClean="0"/>
                        <a:t>Linear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err="1" smtClean="0"/>
                        <a:t>Ridge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Lasso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Poly</a:t>
                      </a:r>
                      <a:endParaRPr lang="fr-FR" sz="14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28401"/>
              </p:ext>
            </p:extLst>
          </p:nvPr>
        </p:nvGraphicFramePr>
        <p:xfrm>
          <a:off x="8169328" y="3655016"/>
          <a:ext cx="3395852" cy="7904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963"/>
                <a:gridCol w="848963"/>
                <a:gridCol w="848963"/>
                <a:gridCol w="848963"/>
              </a:tblGrid>
              <a:tr h="790413"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SVR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DT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RF</a:t>
                      </a:r>
                      <a:endParaRPr lang="fr-FR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b="1" dirty="0" smtClean="0"/>
                        <a:t>XGB</a:t>
                      </a:r>
                      <a:endParaRPr lang="fr-FR" sz="1400" b="1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3" name="Connecteur droit avec flèche 12"/>
          <p:cNvCxnSpPr>
            <a:stCxn id="3" idx="2"/>
          </p:cNvCxnSpPr>
          <p:nvPr/>
        </p:nvCxnSpPr>
        <p:spPr>
          <a:xfrm>
            <a:off x="2422902" y="2849105"/>
            <a:ext cx="0" cy="706895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6" name="Connecteur droit avec flèche 15"/>
          <p:cNvCxnSpPr>
            <a:stCxn id="4" idx="2"/>
            <a:endCxn id="9" idx="0"/>
          </p:cNvCxnSpPr>
          <p:nvPr/>
        </p:nvCxnSpPr>
        <p:spPr>
          <a:xfrm>
            <a:off x="6145078" y="2849104"/>
            <a:ext cx="0" cy="80591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Connecteur droit avec flèche 19"/>
          <p:cNvCxnSpPr>
            <a:stCxn id="5" idx="2"/>
            <a:endCxn id="11" idx="0"/>
          </p:cNvCxnSpPr>
          <p:nvPr/>
        </p:nvCxnSpPr>
        <p:spPr>
          <a:xfrm>
            <a:off x="9867254" y="2794859"/>
            <a:ext cx="0" cy="86015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Connecteur droit 22"/>
          <p:cNvCxnSpPr>
            <a:stCxn id="2" idx="2"/>
          </p:cNvCxnSpPr>
          <p:nvPr/>
        </p:nvCxnSpPr>
        <p:spPr>
          <a:xfrm>
            <a:off x="6145078" y="976393"/>
            <a:ext cx="0" cy="372116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6" name="Connecteur droit 25"/>
          <p:cNvCxnSpPr/>
          <p:nvPr/>
        </p:nvCxnSpPr>
        <p:spPr>
          <a:xfrm>
            <a:off x="2422902" y="1348509"/>
            <a:ext cx="7444352" cy="0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0" name="Connecteur droit avec flèche 29"/>
          <p:cNvCxnSpPr>
            <a:endCxn id="3" idx="0"/>
          </p:cNvCxnSpPr>
          <p:nvPr/>
        </p:nvCxnSpPr>
        <p:spPr>
          <a:xfrm>
            <a:off x="2422902" y="1348509"/>
            <a:ext cx="0" cy="71018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3" name="Connecteur droit avec flèche 32"/>
          <p:cNvCxnSpPr>
            <a:endCxn id="4" idx="0"/>
          </p:cNvCxnSpPr>
          <p:nvPr/>
        </p:nvCxnSpPr>
        <p:spPr>
          <a:xfrm>
            <a:off x="6145078" y="1348509"/>
            <a:ext cx="0" cy="71018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Connecteur droit avec flèche 35"/>
          <p:cNvCxnSpPr>
            <a:endCxn id="5" idx="0"/>
          </p:cNvCxnSpPr>
          <p:nvPr/>
        </p:nvCxnSpPr>
        <p:spPr>
          <a:xfrm>
            <a:off x="9867254" y="1348509"/>
            <a:ext cx="0" cy="655937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271771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e 22"/>
          <p:cNvGrpSpPr/>
          <p:nvPr/>
        </p:nvGrpSpPr>
        <p:grpSpPr>
          <a:xfrm>
            <a:off x="5145431" y="181456"/>
            <a:ext cx="2154264" cy="6484105"/>
            <a:chOff x="5145431" y="181456"/>
            <a:chExt cx="2154264" cy="6484105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5145431" y="181456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Training Set</a:t>
              </a:r>
              <a:endParaRPr lang="fr-FR" dirty="0"/>
            </a:p>
          </p:txBody>
        </p:sp>
        <p:sp>
          <p:nvSpPr>
            <p:cNvPr id="3" name="Rectangle à coins arrondis 2"/>
            <p:cNvSpPr/>
            <p:nvPr/>
          </p:nvSpPr>
          <p:spPr>
            <a:xfrm>
              <a:off x="5145431" y="1326394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Model Training</a:t>
              </a:r>
              <a:endParaRPr lang="fr-FR" dirty="0"/>
            </a:p>
          </p:txBody>
        </p:sp>
        <p:sp>
          <p:nvSpPr>
            <p:cNvPr id="4" name="Rectangle à coins arrondis 3"/>
            <p:cNvSpPr/>
            <p:nvPr/>
          </p:nvSpPr>
          <p:spPr>
            <a:xfrm>
              <a:off x="5145431" y="2471331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Validation Set</a:t>
              </a:r>
              <a:endParaRPr lang="fr-FR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5145431" y="3616269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RMSE </a:t>
              </a:r>
              <a:r>
                <a:rPr lang="fr-FR" dirty="0" err="1" smtClean="0"/>
                <a:t>Calculation</a:t>
              </a:r>
              <a:endParaRPr lang="fr-FR" dirty="0"/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5145431" y="4761206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Model </a:t>
              </a:r>
              <a:r>
                <a:rPr lang="fr-FR" dirty="0" err="1" smtClean="0"/>
                <a:t>Comparison</a:t>
              </a:r>
              <a:endParaRPr lang="fr-FR" dirty="0"/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5145432" y="5906144"/>
              <a:ext cx="2154263" cy="759417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Best Model </a:t>
              </a:r>
              <a:r>
                <a:rPr lang="fr-FR" dirty="0" err="1" smtClean="0"/>
                <a:t>Selection</a:t>
              </a:r>
              <a:endParaRPr lang="fr-FR" dirty="0"/>
            </a:p>
          </p:txBody>
        </p:sp>
        <p:cxnSp>
          <p:nvCxnSpPr>
            <p:cNvPr id="9" name="Connecteur droit avec flèche 8"/>
            <p:cNvCxnSpPr>
              <a:stCxn id="2" idx="2"/>
              <a:endCxn id="3" idx="0"/>
            </p:cNvCxnSpPr>
            <p:nvPr/>
          </p:nvCxnSpPr>
          <p:spPr>
            <a:xfrm>
              <a:off x="6222563" y="940873"/>
              <a:ext cx="0" cy="3855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2" name="Connecteur droit avec flèche 11"/>
            <p:cNvCxnSpPr>
              <a:stCxn id="3" idx="2"/>
              <a:endCxn id="4" idx="0"/>
            </p:cNvCxnSpPr>
            <p:nvPr/>
          </p:nvCxnSpPr>
          <p:spPr>
            <a:xfrm>
              <a:off x="6222563" y="2085811"/>
              <a:ext cx="0" cy="38552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Connecteur droit avec flèche 14"/>
            <p:cNvCxnSpPr>
              <a:stCxn id="4" idx="2"/>
              <a:endCxn id="5" idx="0"/>
            </p:cNvCxnSpPr>
            <p:nvPr/>
          </p:nvCxnSpPr>
          <p:spPr>
            <a:xfrm>
              <a:off x="6222563" y="3230748"/>
              <a:ext cx="0" cy="3855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8" name="Connecteur droit avec flèche 17"/>
            <p:cNvCxnSpPr>
              <a:stCxn id="5" idx="2"/>
              <a:endCxn id="6" idx="0"/>
            </p:cNvCxnSpPr>
            <p:nvPr/>
          </p:nvCxnSpPr>
          <p:spPr>
            <a:xfrm>
              <a:off x="6222563" y="4375686"/>
              <a:ext cx="0" cy="38552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1" name="Connecteur droit avec flèche 20"/>
            <p:cNvCxnSpPr>
              <a:stCxn id="6" idx="2"/>
              <a:endCxn id="7" idx="0"/>
            </p:cNvCxnSpPr>
            <p:nvPr/>
          </p:nvCxnSpPr>
          <p:spPr>
            <a:xfrm>
              <a:off x="6222563" y="5520623"/>
              <a:ext cx="1" cy="38552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286268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/>
          <p:cNvGrpSpPr/>
          <p:nvPr/>
        </p:nvGrpSpPr>
        <p:grpSpPr>
          <a:xfrm>
            <a:off x="4060337" y="0"/>
            <a:ext cx="2358935" cy="6709764"/>
            <a:chOff x="4060337" y="0"/>
            <a:chExt cx="2358935" cy="6709764"/>
          </a:xfrm>
        </p:grpSpPr>
        <p:sp>
          <p:nvSpPr>
            <p:cNvPr id="2" name="Rectangle à coins arrondis 1"/>
            <p:cNvSpPr/>
            <p:nvPr/>
          </p:nvSpPr>
          <p:spPr>
            <a:xfrm>
              <a:off x="4060337" y="0"/>
              <a:ext cx="2358935" cy="609600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Training </a:t>
              </a:r>
              <a:r>
                <a:rPr lang="fr-FR" sz="1400" dirty="0" err="1" smtClean="0"/>
                <a:t>Dataset</a:t>
              </a:r>
              <a:endParaRPr lang="fr-FR" sz="1400" dirty="0"/>
            </a:p>
          </p:txBody>
        </p:sp>
        <p:sp>
          <p:nvSpPr>
            <p:cNvPr id="3" name="Rectangle à coins arrondis 2"/>
            <p:cNvSpPr/>
            <p:nvPr/>
          </p:nvSpPr>
          <p:spPr>
            <a:xfrm>
              <a:off x="4060337" y="1016500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Hyperparameter</a:t>
              </a:r>
              <a:r>
                <a:rPr lang="fr-FR" sz="1400" dirty="0" smtClean="0"/>
                <a:t> </a:t>
              </a:r>
              <a:r>
                <a:rPr lang="fr-FR" sz="1400" dirty="0" err="1" smtClean="0"/>
                <a:t>Grid</a:t>
              </a:r>
              <a:endParaRPr lang="fr-FR" sz="1400" dirty="0"/>
            </a:p>
          </p:txBody>
        </p:sp>
        <p:sp>
          <p:nvSpPr>
            <p:cNvPr id="4" name="Rectangle à coins arrondis 3"/>
            <p:cNvSpPr/>
            <p:nvPr/>
          </p:nvSpPr>
          <p:spPr>
            <a:xfrm>
              <a:off x="4060337" y="2033000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GridSearchCV</a:t>
              </a:r>
              <a:endParaRPr lang="fr-FR" sz="1400" dirty="0"/>
            </a:p>
          </p:txBody>
        </p:sp>
        <p:sp>
          <p:nvSpPr>
            <p:cNvPr id="5" name="Rectangle à coins arrondis 4"/>
            <p:cNvSpPr/>
            <p:nvPr/>
          </p:nvSpPr>
          <p:spPr>
            <a:xfrm>
              <a:off x="4060337" y="3049791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5-Fold Cross Validation</a:t>
              </a:r>
              <a:endParaRPr lang="fr-FR" sz="1400" dirty="0"/>
            </a:p>
          </p:txBody>
        </p:sp>
        <p:sp>
          <p:nvSpPr>
            <p:cNvPr id="6" name="Rectangle à coins arrondis 5"/>
            <p:cNvSpPr/>
            <p:nvPr/>
          </p:nvSpPr>
          <p:spPr>
            <a:xfrm>
              <a:off x="4060337" y="4066582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RMSE Evaluation</a:t>
              </a:r>
              <a:endParaRPr lang="fr-FR" sz="1400" dirty="0"/>
            </a:p>
          </p:txBody>
        </p:sp>
        <p:sp>
          <p:nvSpPr>
            <p:cNvPr id="7" name="Rectangle à coins arrondis 6"/>
            <p:cNvSpPr/>
            <p:nvPr/>
          </p:nvSpPr>
          <p:spPr>
            <a:xfrm>
              <a:off x="4060337" y="5083373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smtClean="0"/>
                <a:t>Best </a:t>
              </a:r>
              <a:r>
                <a:rPr lang="fr-FR" sz="1400" dirty="0" err="1" smtClean="0"/>
                <a:t>Parameters</a:t>
              </a:r>
              <a:endParaRPr lang="fr-FR" sz="1400" dirty="0"/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4060337" y="6100164"/>
              <a:ext cx="2358935" cy="609600"/>
            </a:xfrm>
            <a:prstGeom prst="round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1400" dirty="0" err="1" smtClean="0"/>
                <a:t>Optimized</a:t>
              </a:r>
              <a:r>
                <a:rPr lang="fr-FR" sz="1400" dirty="0" smtClean="0"/>
                <a:t> Model</a:t>
              </a:r>
              <a:endParaRPr lang="fr-FR" sz="1400" dirty="0"/>
            </a:p>
          </p:txBody>
        </p:sp>
        <p:cxnSp>
          <p:nvCxnSpPr>
            <p:cNvPr id="9" name="Connecteur droit avec flèche 8"/>
            <p:cNvCxnSpPr>
              <a:stCxn id="2" idx="2"/>
              <a:endCxn id="3" idx="0"/>
            </p:cNvCxnSpPr>
            <p:nvPr/>
          </p:nvCxnSpPr>
          <p:spPr>
            <a:xfrm>
              <a:off x="5239805" y="609600"/>
              <a:ext cx="0" cy="406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/>
            <p:cNvCxnSpPr>
              <a:stCxn id="3" idx="2"/>
              <a:endCxn id="4" idx="0"/>
            </p:cNvCxnSpPr>
            <p:nvPr/>
          </p:nvCxnSpPr>
          <p:spPr>
            <a:xfrm>
              <a:off x="5239805" y="1626100"/>
              <a:ext cx="0" cy="4069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/>
            <p:cNvCxnSpPr>
              <a:stCxn id="4" idx="2"/>
              <a:endCxn id="5" idx="0"/>
            </p:cNvCxnSpPr>
            <p:nvPr/>
          </p:nvCxnSpPr>
          <p:spPr>
            <a:xfrm>
              <a:off x="5239805" y="2642600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avec flèche 11"/>
            <p:cNvCxnSpPr>
              <a:stCxn id="5" idx="2"/>
              <a:endCxn id="6" idx="0"/>
            </p:cNvCxnSpPr>
            <p:nvPr/>
          </p:nvCxnSpPr>
          <p:spPr>
            <a:xfrm>
              <a:off x="5239805" y="3659391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/>
            <p:cNvCxnSpPr>
              <a:stCxn id="6" idx="2"/>
              <a:endCxn id="7" idx="0"/>
            </p:cNvCxnSpPr>
            <p:nvPr/>
          </p:nvCxnSpPr>
          <p:spPr>
            <a:xfrm>
              <a:off x="5239805" y="4676182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avec flèche 13"/>
            <p:cNvCxnSpPr>
              <a:stCxn id="7" idx="2"/>
              <a:endCxn id="8" idx="0"/>
            </p:cNvCxnSpPr>
            <p:nvPr/>
          </p:nvCxnSpPr>
          <p:spPr>
            <a:xfrm>
              <a:off x="5239805" y="5692973"/>
              <a:ext cx="0" cy="40719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32042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9874"/>
              </p:ext>
            </p:extLst>
          </p:nvPr>
        </p:nvGraphicFramePr>
        <p:xfrm>
          <a:off x="2032000" y="719666"/>
          <a:ext cx="8128002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667"/>
                <a:gridCol w="1354667"/>
                <a:gridCol w="1354667"/>
                <a:gridCol w="1354667"/>
                <a:gridCol w="1354667"/>
                <a:gridCol w="1354667"/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1: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2: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3: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4: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b="1" dirty="0" err="1" smtClean="0"/>
                        <a:t>Fold</a:t>
                      </a:r>
                      <a:r>
                        <a:rPr lang="fr-FR" b="1" dirty="0" smtClean="0"/>
                        <a:t> 5:</a:t>
                      </a:r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Train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Test</a:t>
                      </a:r>
                      <a:endParaRPr lang="fr-FR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764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à coins arrondis 13"/>
          <p:cNvSpPr/>
          <p:nvPr/>
        </p:nvSpPr>
        <p:spPr>
          <a:xfrm>
            <a:off x="4060337" y="0"/>
            <a:ext cx="2358935" cy="60960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Environmental</a:t>
            </a:r>
            <a:r>
              <a:rPr lang="fr-FR" sz="1400" dirty="0" smtClean="0"/>
              <a:t> Data (</a:t>
            </a:r>
            <a:r>
              <a:rPr lang="fr-FR" sz="1400" dirty="0" err="1" smtClean="0"/>
              <a:t>Temperature</a:t>
            </a:r>
            <a:r>
              <a:rPr lang="fr-FR" sz="1400" dirty="0" smtClean="0"/>
              <a:t>, </a:t>
            </a:r>
            <a:r>
              <a:rPr lang="fr-FR" sz="1400" dirty="0" err="1" smtClean="0"/>
              <a:t>Humidity</a:t>
            </a:r>
            <a:r>
              <a:rPr lang="fr-FR" sz="1400" dirty="0" smtClean="0"/>
              <a:t>, Wind)</a:t>
            </a:r>
            <a:endParaRPr lang="fr-FR" sz="1400" dirty="0"/>
          </a:p>
        </p:txBody>
      </p:sp>
      <p:sp>
        <p:nvSpPr>
          <p:cNvPr id="15" name="Rectangle à coins arrondis 14"/>
          <p:cNvSpPr/>
          <p:nvPr/>
        </p:nvSpPr>
        <p:spPr>
          <a:xfrm>
            <a:off x="4060337" y="10165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Data Collection</a:t>
            </a:r>
            <a:endParaRPr lang="fr-FR" sz="1400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4060337" y="20330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Data </a:t>
            </a:r>
            <a:r>
              <a:rPr lang="fr-FR" sz="1400" dirty="0" err="1" smtClean="0"/>
              <a:t>Preprocessing</a:t>
            </a:r>
            <a:endParaRPr lang="fr-FR" sz="1400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4060337" y="3049791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XGBoost</a:t>
            </a:r>
            <a:r>
              <a:rPr lang="fr-FR" sz="1400" dirty="0" smtClean="0"/>
              <a:t> </a:t>
            </a:r>
            <a:r>
              <a:rPr lang="fr-FR" sz="1400" dirty="0" err="1" smtClean="0"/>
              <a:t>Prediction</a:t>
            </a:r>
            <a:r>
              <a:rPr lang="fr-FR" sz="1400" dirty="0" smtClean="0"/>
              <a:t> Model</a:t>
            </a:r>
            <a:endParaRPr lang="fr-FR" sz="1400" dirty="0"/>
          </a:p>
        </p:txBody>
      </p:sp>
      <p:sp>
        <p:nvSpPr>
          <p:cNvPr id="18" name="Rectangle à coins arrondis 17"/>
          <p:cNvSpPr/>
          <p:nvPr/>
        </p:nvSpPr>
        <p:spPr>
          <a:xfrm>
            <a:off x="4060337" y="4066582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Yield</a:t>
            </a:r>
            <a:r>
              <a:rPr lang="fr-FR" sz="1400" dirty="0" smtClean="0"/>
              <a:t> </a:t>
            </a:r>
            <a:r>
              <a:rPr lang="fr-FR" sz="1400" dirty="0" err="1" smtClean="0"/>
              <a:t>Prediction</a:t>
            </a:r>
            <a:endParaRPr lang="fr-FR" sz="1400" dirty="0"/>
          </a:p>
        </p:txBody>
      </p:sp>
      <p:sp>
        <p:nvSpPr>
          <p:cNvPr id="19" name="Rectangle à coins arrondis 18"/>
          <p:cNvSpPr/>
          <p:nvPr/>
        </p:nvSpPr>
        <p:spPr>
          <a:xfrm>
            <a:off x="4060337" y="5083373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Decision</a:t>
            </a:r>
            <a:r>
              <a:rPr lang="fr-FR" sz="1400" dirty="0" smtClean="0"/>
              <a:t> Support System</a:t>
            </a:r>
            <a:endParaRPr lang="fr-FR" sz="1400" dirty="0"/>
          </a:p>
        </p:txBody>
      </p:sp>
      <p:sp>
        <p:nvSpPr>
          <p:cNvPr id="20" name="Rectangle à coins arrondis 19"/>
          <p:cNvSpPr/>
          <p:nvPr/>
        </p:nvSpPr>
        <p:spPr>
          <a:xfrm>
            <a:off x="4060337" y="6100164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Farmer</a:t>
            </a:r>
            <a:r>
              <a:rPr lang="fr-FR" sz="1400" dirty="0" smtClean="0"/>
              <a:t> </a:t>
            </a:r>
            <a:r>
              <a:rPr lang="fr-FR" sz="1400" dirty="0" err="1" smtClean="0"/>
              <a:t>Recommendations</a:t>
            </a:r>
            <a:endParaRPr lang="fr-FR" sz="1400" dirty="0"/>
          </a:p>
        </p:txBody>
      </p:sp>
      <p:cxnSp>
        <p:nvCxnSpPr>
          <p:cNvPr id="21" name="Connecteur droit avec flèche 20"/>
          <p:cNvCxnSpPr>
            <a:stCxn id="14" idx="2"/>
            <a:endCxn id="15" idx="0"/>
          </p:cNvCxnSpPr>
          <p:nvPr/>
        </p:nvCxnSpPr>
        <p:spPr>
          <a:xfrm>
            <a:off x="5239805" y="6096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>
            <a:stCxn id="15" idx="2"/>
            <a:endCxn id="16" idx="0"/>
          </p:cNvCxnSpPr>
          <p:nvPr/>
        </p:nvCxnSpPr>
        <p:spPr>
          <a:xfrm>
            <a:off x="5239805" y="16261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>
            <a:stCxn id="16" idx="2"/>
            <a:endCxn id="17" idx="0"/>
          </p:cNvCxnSpPr>
          <p:nvPr/>
        </p:nvCxnSpPr>
        <p:spPr>
          <a:xfrm>
            <a:off x="5239805" y="2642600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>
            <a:stCxn id="17" idx="2"/>
            <a:endCxn id="18" idx="0"/>
          </p:cNvCxnSpPr>
          <p:nvPr/>
        </p:nvCxnSpPr>
        <p:spPr>
          <a:xfrm>
            <a:off x="5239805" y="3659391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8" idx="2"/>
            <a:endCxn id="19" idx="0"/>
          </p:cNvCxnSpPr>
          <p:nvPr/>
        </p:nvCxnSpPr>
        <p:spPr>
          <a:xfrm>
            <a:off x="5239805" y="4676182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/>
          <p:cNvCxnSpPr>
            <a:stCxn id="19" idx="2"/>
            <a:endCxn id="20" idx="0"/>
          </p:cNvCxnSpPr>
          <p:nvPr/>
        </p:nvCxnSpPr>
        <p:spPr>
          <a:xfrm>
            <a:off x="5239805" y="5692973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989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à coins arrondis 1"/>
          <p:cNvSpPr/>
          <p:nvPr/>
        </p:nvSpPr>
        <p:spPr>
          <a:xfrm>
            <a:off x="4060337" y="0"/>
            <a:ext cx="2358935" cy="609600"/>
          </a:xfrm>
          <a:prstGeom prst="round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Current</a:t>
            </a:r>
            <a:r>
              <a:rPr lang="fr-FR" sz="1400" dirty="0" smtClean="0"/>
              <a:t> </a:t>
            </a:r>
            <a:r>
              <a:rPr lang="fr-FR" sz="1400" dirty="0" err="1" smtClean="0"/>
              <a:t>Yield</a:t>
            </a:r>
            <a:r>
              <a:rPr lang="fr-FR" sz="1400" dirty="0" smtClean="0"/>
              <a:t> </a:t>
            </a:r>
            <a:r>
              <a:rPr lang="fr-FR" sz="1400" dirty="0" err="1" smtClean="0"/>
              <a:t>Prediction</a:t>
            </a:r>
            <a:r>
              <a:rPr lang="fr-FR" sz="1400" dirty="0" smtClean="0"/>
              <a:t> Model</a:t>
            </a:r>
            <a:endParaRPr lang="fr-FR" sz="14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4060337" y="10165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Real-Time </a:t>
            </a:r>
            <a:r>
              <a:rPr lang="fr-FR" sz="1400" dirty="0" err="1" smtClean="0"/>
              <a:t>Weather</a:t>
            </a:r>
            <a:r>
              <a:rPr lang="fr-FR" sz="1400" dirty="0" smtClean="0"/>
              <a:t> Data</a:t>
            </a:r>
            <a:endParaRPr lang="fr-FR" sz="1400" dirty="0"/>
          </a:p>
        </p:txBody>
      </p:sp>
      <p:sp>
        <p:nvSpPr>
          <p:cNvPr id="4" name="Rectangle à coins arrondis 3"/>
          <p:cNvSpPr/>
          <p:nvPr/>
        </p:nvSpPr>
        <p:spPr>
          <a:xfrm>
            <a:off x="4060337" y="2033000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Satellite/Drone </a:t>
            </a:r>
            <a:r>
              <a:rPr lang="fr-FR" sz="1400" dirty="0" err="1" smtClean="0"/>
              <a:t>Imagery</a:t>
            </a:r>
            <a:endParaRPr lang="fr-FR" sz="1400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4060337" y="3049791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Disease</a:t>
            </a:r>
            <a:r>
              <a:rPr lang="fr-FR" sz="1400" dirty="0" smtClean="0"/>
              <a:t> </a:t>
            </a:r>
            <a:r>
              <a:rPr lang="fr-FR" sz="1400" dirty="0" err="1" smtClean="0"/>
              <a:t>Dectection</a:t>
            </a:r>
            <a:r>
              <a:rPr lang="fr-FR" sz="1400" dirty="0" smtClean="0"/>
              <a:t> AI</a:t>
            </a:r>
            <a:endParaRPr lang="fr-FR" sz="1400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4060337" y="4066582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Multi-</a:t>
            </a:r>
            <a:r>
              <a:rPr lang="fr-FR" sz="1400" dirty="0" err="1" smtClean="0"/>
              <a:t>Crop</a:t>
            </a:r>
            <a:r>
              <a:rPr lang="fr-FR" sz="1400" dirty="0" smtClean="0"/>
              <a:t> </a:t>
            </a:r>
            <a:r>
              <a:rPr lang="fr-FR" sz="1400" dirty="0" err="1" smtClean="0"/>
              <a:t>Prediction</a:t>
            </a:r>
            <a:endParaRPr lang="fr-FR" sz="1400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4060337" y="5083373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Decision</a:t>
            </a:r>
            <a:r>
              <a:rPr lang="fr-FR" sz="1400" dirty="0" smtClean="0"/>
              <a:t> Support System</a:t>
            </a:r>
            <a:endParaRPr lang="fr-FR" sz="1400" dirty="0"/>
          </a:p>
        </p:txBody>
      </p:sp>
      <p:sp>
        <p:nvSpPr>
          <p:cNvPr id="8" name="Rectangle à coins arrondis 7"/>
          <p:cNvSpPr/>
          <p:nvPr/>
        </p:nvSpPr>
        <p:spPr>
          <a:xfrm>
            <a:off x="4060337" y="6100164"/>
            <a:ext cx="2358935" cy="60960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err="1" smtClean="0"/>
              <a:t>Fully</a:t>
            </a:r>
            <a:r>
              <a:rPr lang="fr-FR" sz="1400" dirty="0" smtClean="0"/>
              <a:t> </a:t>
            </a:r>
            <a:r>
              <a:rPr lang="fr-FR" sz="1400" dirty="0" err="1" smtClean="0"/>
              <a:t>Integrated</a:t>
            </a:r>
            <a:r>
              <a:rPr lang="fr-FR" sz="1400" dirty="0" smtClean="0"/>
              <a:t> Platform</a:t>
            </a:r>
            <a:endParaRPr lang="fr-FR" sz="1400" dirty="0"/>
          </a:p>
        </p:txBody>
      </p:sp>
      <p:cxnSp>
        <p:nvCxnSpPr>
          <p:cNvPr id="9" name="Connecteur droit avec flèche 8"/>
          <p:cNvCxnSpPr>
            <a:stCxn id="2" idx="2"/>
            <a:endCxn id="3" idx="0"/>
          </p:cNvCxnSpPr>
          <p:nvPr/>
        </p:nvCxnSpPr>
        <p:spPr>
          <a:xfrm>
            <a:off x="5239805" y="6096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>
            <a:stCxn id="3" idx="2"/>
            <a:endCxn id="4" idx="0"/>
          </p:cNvCxnSpPr>
          <p:nvPr/>
        </p:nvCxnSpPr>
        <p:spPr>
          <a:xfrm>
            <a:off x="5239805" y="1626100"/>
            <a:ext cx="0" cy="4069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/>
          <p:cNvCxnSpPr>
            <a:stCxn id="4" idx="2"/>
            <a:endCxn id="5" idx="0"/>
          </p:cNvCxnSpPr>
          <p:nvPr/>
        </p:nvCxnSpPr>
        <p:spPr>
          <a:xfrm>
            <a:off x="5239805" y="2642600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>
            <a:stCxn id="5" idx="2"/>
            <a:endCxn id="6" idx="0"/>
          </p:cNvCxnSpPr>
          <p:nvPr/>
        </p:nvCxnSpPr>
        <p:spPr>
          <a:xfrm>
            <a:off x="5239805" y="3659391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>
            <a:stCxn id="6" idx="2"/>
            <a:endCxn id="7" idx="0"/>
          </p:cNvCxnSpPr>
          <p:nvPr/>
        </p:nvCxnSpPr>
        <p:spPr>
          <a:xfrm>
            <a:off x="5239805" y="4676182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stCxn id="7" idx="2"/>
            <a:endCxn id="8" idx="0"/>
          </p:cNvCxnSpPr>
          <p:nvPr/>
        </p:nvCxnSpPr>
        <p:spPr>
          <a:xfrm>
            <a:off x="5239805" y="5692973"/>
            <a:ext cx="0" cy="4071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086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3643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</TotalTime>
  <Words>277</Words>
  <Application>Microsoft Office PowerPoint</Application>
  <PresentationFormat>Grand écran</PresentationFormat>
  <Paragraphs>163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KRYPTONIUM</dc:creator>
  <cp:lastModifiedBy>KRYPTONIUM</cp:lastModifiedBy>
  <cp:revision>13</cp:revision>
  <dcterms:created xsi:type="dcterms:W3CDTF">2026-06-14T21:06:47Z</dcterms:created>
  <dcterms:modified xsi:type="dcterms:W3CDTF">2026-06-15T15:13:15Z</dcterms:modified>
</cp:coreProperties>
</file>